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21E978-1112-48A0-8C18-E48C7D4181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614E7C-FEC6-4940-B6EB-D8497D6947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7808CA4-E978-422E-B0AA-BC3F7F47FD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2245E9-133D-4540-A948-736B9A2E0C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BC36763-6070-4BF8-AD15-F5DAF0F069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B122CE6-6EE3-4C44-BB7A-80289A0F1A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D76EF62-E815-4805-A5ED-67B8986B20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3B3C40-052C-459A-87FD-012B362ADD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B9B6E7C-F6D8-4E6A-9ADC-4C83E4B841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2CA67FE-7BAD-45C5-A34A-507A86070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22298B0-18B0-4993-A222-E7477BD573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60CC8D-5926-4BD1-9838-66C69A8332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215C2D-B564-4A2F-9D79-8A8BF49A62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21DE36-9B1B-4AF7-A298-92F4631CFA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28F3DE-44D6-4757-A2FC-454EAD59E8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0BB813-EE71-45BB-BD17-652BCDB999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042DD1-6FC0-4392-AC4B-E37679B191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C1224E-2BA2-4105-8C28-322093612A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586736-05AA-4EC6-8D24-299422E226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030DFB-593D-4071-BD0B-A24FA4FA32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4FE7D0-EE90-47F3-9749-80F8C789FD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7A9E1F-7216-449F-B8F6-B885B5CC75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2193840" y="384120"/>
            <a:ext cx="1738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ea5e9"/>
                </a:solidFill>
                <a:latin typeface="Calibri"/>
              </a:rPr>
              <a:t>EasyDraftDocs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2449800" y="822960"/>
            <a:ext cx="1683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</a:rPr>
              <a:t>REFINE  ·  SHARE  ·  SIGN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2185920" y="1234440"/>
            <a:ext cx="449712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800" spc="-1" strike="noStrike">
                <a:solidFill>
                  <a:srgbClr val="ffffff"/>
                </a:solidFill>
                <a:latin typeface="Calibri"/>
              </a:rPr>
              <a:t>PDF signing</a:t>
            </a:r>
            <a:endParaRPr b="0" lang="en-CA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736640" y="2176200"/>
            <a:ext cx="58532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800" spc="-1" strike="noStrike">
                <a:solidFill>
                  <a:srgbClr val="ffffff"/>
                </a:solidFill>
                <a:latin typeface="Calibri"/>
              </a:rPr>
              <a:t>built for teams,</a:t>
            </a:r>
            <a:endParaRPr b="0" lang="en-CA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643400" y="3117960"/>
            <a:ext cx="603936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800" spc="-1" strike="noStrike">
                <a:solidFill>
                  <a:srgbClr val="0ea5e9"/>
                </a:solidFill>
                <a:latin typeface="Calibri"/>
              </a:rPr>
              <a:t>not enterprises.</a:t>
            </a:r>
            <a:endParaRPr b="0" lang="en-CA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2019240" y="4224600"/>
            <a:ext cx="4373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94a3b8"/>
                </a:solidFill>
                <a:latin typeface="Calibri"/>
              </a:rPr>
              <a:t>Upload · Place fields · Route · Sign · Done.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548640" y="4773240"/>
            <a:ext cx="4571640" cy="25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1906560" y="4892040"/>
            <a:ext cx="2313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563eb"/>
                </a:solidFill>
                <a:latin typeface="Calibri"/>
              </a:rPr>
              <a:t>easydraftdocs.app  →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11"/>
          <p:cNvSpPr/>
          <p:nvPr/>
        </p:nvSpPr>
        <p:spPr>
          <a:xfrm>
            <a:off x="7799760" y="384120"/>
            <a:ext cx="3885840" cy="1298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8999640" y="548640"/>
            <a:ext cx="1677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30 DAYS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9445320" y="1298520"/>
            <a:ext cx="7862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free trial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7799760" y="1792080"/>
            <a:ext cx="3885840" cy="1298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8978400" y="1956960"/>
            <a:ext cx="1720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$12 CAD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9150480" y="2706480"/>
            <a:ext cx="1375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per seat / month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17"/>
          <p:cNvSpPr/>
          <p:nvPr/>
        </p:nvSpPr>
        <p:spPr>
          <a:xfrm>
            <a:off x="7799760" y="3200400"/>
            <a:ext cx="3885840" cy="1298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8872560" y="3364920"/>
            <a:ext cx="1932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NO CARD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9162720" y="4114800"/>
            <a:ext cx="1351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required to start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20"/>
          <p:cNvSpPr/>
          <p:nvPr/>
        </p:nvSpPr>
        <p:spPr>
          <a:xfrm>
            <a:off x="7799760" y="4608720"/>
            <a:ext cx="3885840" cy="1298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8906040" y="4773240"/>
            <a:ext cx="1865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3 MODES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9327240" y="5523120"/>
            <a:ext cx="1022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of workflow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1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2"/>
          <p:cNvSpPr/>
          <p:nvPr/>
        </p:nvSpPr>
        <p:spPr>
          <a:xfrm>
            <a:off x="0" y="0"/>
            <a:ext cx="12188520" cy="20113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2759040" y="292680"/>
            <a:ext cx="1064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ea5e9"/>
                </a:solidFill>
                <a:latin typeface="Calibri"/>
              </a:rPr>
              <a:t>THE PROBLEM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435960" y="640080"/>
            <a:ext cx="11198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You're paying enterprise prices for features you don't use.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2503800" y="1325880"/>
            <a:ext cx="6604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4a3b8"/>
                </a:solidFill>
                <a:latin typeface="Calibri"/>
              </a:rPr>
              <a:t>And your clients still have to make an account to sign your contract.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457200" y="2121480"/>
            <a:ext cx="5586480" cy="204804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ectangle 7"/>
          <p:cNvSpPr/>
          <p:nvPr/>
        </p:nvSpPr>
        <p:spPr>
          <a:xfrm>
            <a:off x="457200" y="2121480"/>
            <a:ext cx="72720" cy="204804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686520" y="2322720"/>
            <a:ext cx="59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f172a"/>
                </a:solidFill>
                <a:latin typeface="Calibri"/>
              </a:rPr>
              <a:t>💸</a:t>
            </a:r>
            <a:endParaRPr b="0" lang="en-CA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9"/>
          <p:cNvSpPr/>
          <p:nvPr/>
        </p:nvSpPr>
        <p:spPr>
          <a:xfrm>
            <a:off x="2563200" y="2322720"/>
            <a:ext cx="2115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72a"/>
                </a:solidFill>
                <a:latin typeface="Calibri"/>
              </a:rPr>
              <a:t>Enterprise pricing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1353240" y="2871360"/>
            <a:ext cx="4534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$25–65 USD per seat/month before you hit envelope limits or add-on fees.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11"/>
          <p:cNvSpPr/>
          <p:nvPr/>
        </p:nvSpPr>
        <p:spPr>
          <a:xfrm>
            <a:off x="6144840" y="2121480"/>
            <a:ext cx="5586480" cy="2048040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12"/>
          <p:cNvSpPr/>
          <p:nvPr/>
        </p:nvSpPr>
        <p:spPr>
          <a:xfrm>
            <a:off x="6144840" y="2121480"/>
            <a:ext cx="72720" cy="20480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6374160" y="2322720"/>
            <a:ext cx="59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f172a"/>
                </a:solidFill>
                <a:latin typeface="Calibri"/>
              </a:rPr>
              <a:t>🧩</a:t>
            </a:r>
            <a:endParaRPr b="0" lang="en-CA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8491680" y="2322720"/>
            <a:ext cx="1633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72a"/>
                </a:solidFill>
                <a:latin typeface="Calibri"/>
              </a:rPr>
              <a:t>Feature bloat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5"/>
          <p:cNvSpPr/>
          <p:nvPr/>
        </p:nvSpPr>
        <p:spPr>
          <a:xfrm>
            <a:off x="7040880" y="2871360"/>
            <a:ext cx="4534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Full layout editors, API suites, custom branding. You use 50% and pay for all of it.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16"/>
          <p:cNvSpPr/>
          <p:nvPr/>
        </p:nvSpPr>
        <p:spPr>
          <a:xfrm>
            <a:off x="457200" y="4270320"/>
            <a:ext cx="5586480" cy="204804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17"/>
          <p:cNvSpPr/>
          <p:nvPr/>
        </p:nvSpPr>
        <p:spPr>
          <a:xfrm>
            <a:off x="457200" y="4270320"/>
            <a:ext cx="72720" cy="20480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18"/>
          <p:cNvSpPr/>
          <p:nvPr/>
        </p:nvSpPr>
        <p:spPr>
          <a:xfrm>
            <a:off x="686520" y="4471560"/>
            <a:ext cx="59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f172a"/>
                </a:solidFill>
                <a:latin typeface="Calibri"/>
              </a:rPr>
              <a:t>🔒</a:t>
            </a:r>
            <a:endParaRPr b="0" lang="en-CA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9"/>
          <p:cNvSpPr/>
          <p:nvPr/>
        </p:nvSpPr>
        <p:spPr>
          <a:xfrm>
            <a:off x="2286360" y="4471560"/>
            <a:ext cx="26683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72a"/>
                </a:solidFill>
                <a:latin typeface="Calibri"/>
              </a:rPr>
              <a:t>Forced signer accounts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0"/>
          <p:cNvSpPr/>
          <p:nvPr/>
        </p:nvSpPr>
        <p:spPr>
          <a:xfrm>
            <a:off x="1353240" y="5020200"/>
            <a:ext cx="4534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Clients must register before they can read — let alone sign — your document.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21"/>
          <p:cNvSpPr/>
          <p:nvPr/>
        </p:nvSpPr>
        <p:spPr>
          <a:xfrm>
            <a:off x="6144840" y="4270320"/>
            <a:ext cx="5586480" cy="204804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ectangle 22"/>
          <p:cNvSpPr/>
          <p:nvPr/>
        </p:nvSpPr>
        <p:spPr>
          <a:xfrm>
            <a:off x="6144840" y="4270320"/>
            <a:ext cx="72720" cy="20480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6374160" y="4471560"/>
            <a:ext cx="59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f172a"/>
                </a:solidFill>
                <a:latin typeface="Calibri"/>
              </a:rPr>
              <a:t>🌫️</a:t>
            </a:r>
            <a:endParaRPr b="0" lang="en-CA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4"/>
          <p:cNvSpPr/>
          <p:nvPr/>
        </p:nvSpPr>
        <p:spPr>
          <a:xfrm>
            <a:off x="8208720" y="4471560"/>
            <a:ext cx="219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f172a"/>
                </a:solidFill>
                <a:latin typeface="Calibri"/>
              </a:rPr>
              <a:t>No verifiable audit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25"/>
          <p:cNvSpPr/>
          <p:nvPr/>
        </p:nvSpPr>
        <p:spPr>
          <a:xfrm>
            <a:off x="7040880" y="5020200"/>
            <a:ext cx="45349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When did they sign? Right person? Which version? Hard to answer with a black box.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6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2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2718720" y="255960"/>
            <a:ext cx="1145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HOW IT WORKS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1727280" y="567000"/>
            <a:ext cx="6786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Seven steps. Upload to signed record.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2484720" y="1170360"/>
            <a:ext cx="6642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</a:rPr>
              <a:t>Your original PDF stays intact. EasyDraftDocs layers only the workflow on top.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6"/>
          <p:cNvSpPr/>
          <p:nvPr/>
        </p:nvSpPr>
        <p:spPr>
          <a:xfrm>
            <a:off x="1225440" y="2867760"/>
            <a:ext cx="952200" cy="25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Oval 7"/>
          <p:cNvSpPr/>
          <p:nvPr/>
        </p:nvSpPr>
        <p:spPr>
          <a:xfrm>
            <a:off x="457200" y="2514600"/>
            <a:ext cx="731160" cy="731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65304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416160" y="3383280"/>
            <a:ext cx="813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Upload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72600" y="3721680"/>
            <a:ext cx="900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PDF stored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448920" y="4001040"/>
            <a:ext cx="748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privately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12"/>
          <p:cNvSpPr/>
          <p:nvPr/>
        </p:nvSpPr>
        <p:spPr>
          <a:xfrm>
            <a:off x="2982600" y="2867760"/>
            <a:ext cx="952200" cy="25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Oval 13"/>
          <p:cNvSpPr/>
          <p:nvPr/>
        </p:nvSpPr>
        <p:spPr>
          <a:xfrm>
            <a:off x="2214360" y="2514600"/>
            <a:ext cx="731160" cy="73116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4"/>
          <p:cNvSpPr/>
          <p:nvPr/>
        </p:nvSpPr>
        <p:spPr>
          <a:xfrm>
            <a:off x="241020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5"/>
          <p:cNvSpPr/>
          <p:nvPr/>
        </p:nvSpPr>
        <p:spPr>
          <a:xfrm>
            <a:off x="2140560" y="3383280"/>
            <a:ext cx="879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Prepare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6"/>
          <p:cNvSpPr/>
          <p:nvPr/>
        </p:nvSpPr>
        <p:spPr>
          <a:xfrm>
            <a:off x="2081880" y="3721680"/>
            <a:ext cx="996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Add signers,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7"/>
          <p:cNvSpPr/>
          <p:nvPr/>
        </p:nvSpPr>
        <p:spPr>
          <a:xfrm>
            <a:off x="2121480" y="4001040"/>
            <a:ext cx="917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place fields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18"/>
          <p:cNvSpPr/>
          <p:nvPr/>
        </p:nvSpPr>
        <p:spPr>
          <a:xfrm>
            <a:off x="4739760" y="2867760"/>
            <a:ext cx="952200" cy="25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Oval 19"/>
          <p:cNvSpPr/>
          <p:nvPr/>
        </p:nvSpPr>
        <p:spPr>
          <a:xfrm>
            <a:off x="3971520" y="2514600"/>
            <a:ext cx="731160" cy="731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0"/>
          <p:cNvSpPr/>
          <p:nvPr/>
        </p:nvSpPr>
        <p:spPr>
          <a:xfrm>
            <a:off x="416736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21"/>
          <p:cNvSpPr/>
          <p:nvPr/>
        </p:nvSpPr>
        <p:spPr>
          <a:xfrm>
            <a:off x="4030200" y="3383280"/>
            <a:ext cx="613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Send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2"/>
          <p:cNvSpPr/>
          <p:nvPr/>
        </p:nvSpPr>
        <p:spPr>
          <a:xfrm>
            <a:off x="3987720" y="3721680"/>
            <a:ext cx="699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Routing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3"/>
          <p:cNvSpPr/>
          <p:nvPr/>
        </p:nvSpPr>
        <p:spPr>
          <a:xfrm>
            <a:off x="3957120" y="4001040"/>
            <a:ext cx="760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activates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24"/>
          <p:cNvSpPr/>
          <p:nvPr/>
        </p:nvSpPr>
        <p:spPr>
          <a:xfrm>
            <a:off x="6496920" y="2867760"/>
            <a:ext cx="952200" cy="25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Oval 25"/>
          <p:cNvSpPr/>
          <p:nvPr/>
        </p:nvSpPr>
        <p:spPr>
          <a:xfrm>
            <a:off x="5728680" y="2514600"/>
            <a:ext cx="731160" cy="73116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6"/>
          <p:cNvSpPr/>
          <p:nvPr/>
        </p:nvSpPr>
        <p:spPr>
          <a:xfrm>
            <a:off x="592452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27"/>
          <p:cNvSpPr/>
          <p:nvPr/>
        </p:nvSpPr>
        <p:spPr>
          <a:xfrm>
            <a:off x="5812560" y="3383280"/>
            <a:ext cx="563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Sign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8"/>
          <p:cNvSpPr/>
          <p:nvPr/>
        </p:nvSpPr>
        <p:spPr>
          <a:xfrm>
            <a:off x="5686200" y="3721680"/>
            <a:ext cx="8164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Complete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9"/>
          <p:cNvSpPr/>
          <p:nvPr/>
        </p:nvSpPr>
        <p:spPr>
          <a:xfrm>
            <a:off x="5516280" y="4001040"/>
            <a:ext cx="1156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assigned fields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30"/>
          <p:cNvSpPr/>
          <p:nvPr/>
        </p:nvSpPr>
        <p:spPr>
          <a:xfrm>
            <a:off x="8254080" y="2867760"/>
            <a:ext cx="952200" cy="25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Oval 31"/>
          <p:cNvSpPr/>
          <p:nvPr/>
        </p:nvSpPr>
        <p:spPr>
          <a:xfrm>
            <a:off x="7485840" y="2514600"/>
            <a:ext cx="731160" cy="731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32"/>
          <p:cNvSpPr/>
          <p:nvPr/>
        </p:nvSpPr>
        <p:spPr>
          <a:xfrm>
            <a:off x="768168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33"/>
          <p:cNvSpPr/>
          <p:nvPr/>
        </p:nvSpPr>
        <p:spPr>
          <a:xfrm>
            <a:off x="7334280" y="3383280"/>
            <a:ext cx="1034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Complete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34"/>
          <p:cNvSpPr/>
          <p:nvPr/>
        </p:nvSpPr>
        <p:spPr>
          <a:xfrm>
            <a:off x="7280280" y="3721680"/>
            <a:ext cx="1142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All fields done,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35"/>
          <p:cNvSpPr/>
          <p:nvPr/>
        </p:nvSpPr>
        <p:spPr>
          <a:xfrm>
            <a:off x="7293240" y="4001040"/>
            <a:ext cx="1116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doc marked ✓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36"/>
          <p:cNvSpPr/>
          <p:nvPr/>
        </p:nvSpPr>
        <p:spPr>
          <a:xfrm>
            <a:off x="10011240" y="2867760"/>
            <a:ext cx="952200" cy="2520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Oval 37"/>
          <p:cNvSpPr/>
          <p:nvPr/>
        </p:nvSpPr>
        <p:spPr>
          <a:xfrm>
            <a:off x="9243000" y="2514600"/>
            <a:ext cx="731160" cy="731160"/>
          </a:xfrm>
          <a:prstGeom prst="ellipse">
            <a:avLst/>
          </a:prstGeom>
          <a:solidFill>
            <a:srgbClr val="1e3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38"/>
          <p:cNvSpPr/>
          <p:nvPr/>
        </p:nvSpPr>
        <p:spPr>
          <a:xfrm>
            <a:off x="943884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39"/>
          <p:cNvSpPr/>
          <p:nvPr/>
        </p:nvSpPr>
        <p:spPr>
          <a:xfrm>
            <a:off x="9226440" y="3383280"/>
            <a:ext cx="764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Export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40"/>
          <p:cNvSpPr/>
          <p:nvPr/>
        </p:nvSpPr>
        <p:spPr>
          <a:xfrm>
            <a:off x="8946000" y="3721680"/>
            <a:ext cx="1325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Signatures baked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41"/>
          <p:cNvSpPr/>
          <p:nvPr/>
        </p:nvSpPr>
        <p:spPr>
          <a:xfrm>
            <a:off x="8946000" y="4001040"/>
            <a:ext cx="13255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in, hash recorded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Oval 42"/>
          <p:cNvSpPr/>
          <p:nvPr/>
        </p:nvSpPr>
        <p:spPr>
          <a:xfrm>
            <a:off x="11000160" y="2514600"/>
            <a:ext cx="731160" cy="731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43"/>
          <p:cNvSpPr/>
          <p:nvPr/>
        </p:nvSpPr>
        <p:spPr>
          <a:xfrm>
            <a:off x="11196000" y="2587680"/>
            <a:ext cx="339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4"/>
          <p:cNvSpPr/>
          <p:nvPr/>
        </p:nvSpPr>
        <p:spPr>
          <a:xfrm>
            <a:off x="11068920" y="3383280"/>
            <a:ext cx="59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Lock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45"/>
          <p:cNvSpPr/>
          <p:nvPr/>
        </p:nvSpPr>
        <p:spPr>
          <a:xfrm>
            <a:off x="10874520" y="3721680"/>
            <a:ext cx="982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Explicit lock;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6"/>
          <p:cNvSpPr/>
          <p:nvPr/>
        </p:nvSpPr>
        <p:spPr>
          <a:xfrm>
            <a:off x="10736640" y="4001040"/>
            <a:ext cx="12585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</a:rPr>
              <a:t>reopen any time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47"/>
          <p:cNvSpPr/>
          <p:nvPr/>
        </p:nvSpPr>
        <p:spPr>
          <a:xfrm>
            <a:off x="0" y="6199560"/>
            <a:ext cx="12188520" cy="65808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48"/>
          <p:cNvSpPr/>
          <p:nvPr/>
        </p:nvSpPr>
        <p:spPr>
          <a:xfrm>
            <a:off x="713160" y="6346080"/>
            <a:ext cx="104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e3a6e"/>
                </a:solidFill>
                <a:latin typeface="Calibri"/>
              </a:rPr>
              <a:t>Field types: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49"/>
          <p:cNvSpPr/>
          <p:nvPr/>
        </p:nvSpPr>
        <p:spPr>
          <a:xfrm>
            <a:off x="1920240" y="6309360"/>
            <a:ext cx="1019160" cy="3470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50"/>
          <p:cNvSpPr/>
          <p:nvPr/>
        </p:nvSpPr>
        <p:spPr>
          <a:xfrm>
            <a:off x="2013120" y="6346080"/>
            <a:ext cx="870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3a6e"/>
                </a:solidFill>
                <a:latin typeface="Calibri"/>
              </a:rPr>
              <a:t>Signature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51"/>
          <p:cNvSpPr/>
          <p:nvPr/>
        </p:nvSpPr>
        <p:spPr>
          <a:xfrm>
            <a:off x="3076920" y="6309360"/>
            <a:ext cx="941400" cy="3470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52"/>
          <p:cNvSpPr/>
          <p:nvPr/>
        </p:nvSpPr>
        <p:spPr>
          <a:xfrm>
            <a:off x="3236760" y="6346080"/>
            <a:ext cx="658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3a6e"/>
                </a:solidFill>
                <a:latin typeface="Calibri"/>
              </a:rPr>
              <a:t>Initials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53"/>
          <p:cNvSpPr/>
          <p:nvPr/>
        </p:nvSpPr>
        <p:spPr>
          <a:xfrm>
            <a:off x="4155840" y="6309360"/>
            <a:ext cx="941400" cy="3470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54"/>
          <p:cNvSpPr/>
          <p:nvPr/>
        </p:nvSpPr>
        <p:spPr>
          <a:xfrm>
            <a:off x="4237560" y="6346080"/>
            <a:ext cx="81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3a6e"/>
                </a:solidFill>
                <a:latin typeface="Calibri"/>
              </a:rPr>
              <a:t>Approval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55"/>
          <p:cNvSpPr/>
          <p:nvPr/>
        </p:nvSpPr>
        <p:spPr>
          <a:xfrm>
            <a:off x="5235120" y="6309360"/>
            <a:ext cx="630720" cy="3470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56"/>
          <p:cNvSpPr/>
          <p:nvPr/>
        </p:nvSpPr>
        <p:spPr>
          <a:xfrm>
            <a:off x="5310360" y="6346080"/>
            <a:ext cx="516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3a6e"/>
                </a:solidFill>
                <a:latin typeface="Calibri"/>
              </a:rPr>
              <a:t>Date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ounded Rectangle 57"/>
          <p:cNvSpPr/>
          <p:nvPr/>
        </p:nvSpPr>
        <p:spPr>
          <a:xfrm>
            <a:off x="6003000" y="6309360"/>
            <a:ext cx="630720" cy="3470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58"/>
          <p:cNvSpPr/>
          <p:nvPr/>
        </p:nvSpPr>
        <p:spPr>
          <a:xfrm>
            <a:off x="6100560" y="6346080"/>
            <a:ext cx="472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3a6e"/>
                </a:solidFill>
                <a:latin typeface="Calibri"/>
              </a:rPr>
              <a:t>Text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59"/>
          <p:cNvSpPr/>
          <p:nvPr/>
        </p:nvSpPr>
        <p:spPr>
          <a:xfrm>
            <a:off x="6771240" y="6309360"/>
            <a:ext cx="3817440" cy="3470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60"/>
          <p:cNvSpPr/>
          <p:nvPr/>
        </p:nvSpPr>
        <p:spPr>
          <a:xfrm>
            <a:off x="6943320" y="6346080"/>
            <a:ext cx="350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3a6e"/>
                </a:solidFill>
                <a:latin typeface="Calibri"/>
              </a:rPr>
              <a:t>Free-placement (no pre-assigned field needed)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61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3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4062600" cy="685764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Rectangle 2"/>
          <p:cNvSpPr/>
          <p:nvPr/>
        </p:nvSpPr>
        <p:spPr>
          <a:xfrm>
            <a:off x="0" y="0"/>
            <a:ext cx="54360" cy="68576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253800" y="502920"/>
            <a:ext cx="7815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800" spc="-1" strike="noStrike">
                <a:solidFill>
                  <a:srgbClr val="0f172a"/>
                </a:solidFill>
                <a:latin typeface="Calibri"/>
              </a:rPr>
              <a:t>📁</a:t>
            </a:r>
            <a:endParaRPr b="0" lang="en-CA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4"/>
          <p:cNvSpPr/>
          <p:nvPr/>
        </p:nvSpPr>
        <p:spPr>
          <a:xfrm>
            <a:off x="983520" y="1280160"/>
            <a:ext cx="2259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</a:rPr>
              <a:t>Self-Managed</a:t>
            </a:r>
            <a:endParaRPr b="0" lang="en-CA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1173240" y="1810440"/>
            <a:ext cx="1880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2563eb"/>
                </a:solidFill>
                <a:latin typeface="Calibri"/>
              </a:rPr>
              <a:t>You handle distribution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6"/>
          <p:cNvSpPr/>
          <p:nvPr/>
        </p:nvSpPr>
        <p:spPr>
          <a:xfrm>
            <a:off x="255960" y="2240280"/>
            <a:ext cx="3559680" cy="18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Oval 7"/>
          <p:cNvSpPr/>
          <p:nvPr/>
        </p:nvSpPr>
        <p:spPr>
          <a:xfrm>
            <a:off x="255960" y="2496240"/>
            <a:ext cx="109440" cy="109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860760" y="2377440"/>
            <a:ext cx="2688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Store &amp; prepare inside EasyDraft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val 9"/>
          <p:cNvSpPr/>
          <p:nvPr/>
        </p:nvSpPr>
        <p:spPr>
          <a:xfrm>
            <a:off x="255960" y="3246120"/>
            <a:ext cx="109440" cy="109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939240" y="3127320"/>
            <a:ext cx="2531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Download and send it yourself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Oval 11"/>
          <p:cNvSpPr/>
          <p:nvPr/>
        </p:nvSpPr>
        <p:spPr>
          <a:xfrm>
            <a:off x="255960" y="3996000"/>
            <a:ext cx="109440" cy="109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12"/>
          <p:cNvSpPr/>
          <p:nvPr/>
        </p:nvSpPr>
        <p:spPr>
          <a:xfrm>
            <a:off x="1203840" y="3877200"/>
            <a:ext cx="2002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No external emails sent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Oval 13"/>
          <p:cNvSpPr/>
          <p:nvPr/>
        </p:nvSpPr>
        <p:spPr>
          <a:xfrm>
            <a:off x="255960" y="4745880"/>
            <a:ext cx="109440" cy="109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1213560" y="4626720"/>
            <a:ext cx="1982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Audit trail still recorded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Oval 15"/>
          <p:cNvSpPr/>
          <p:nvPr/>
        </p:nvSpPr>
        <p:spPr>
          <a:xfrm>
            <a:off x="255960" y="5495400"/>
            <a:ext cx="109440" cy="109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16"/>
          <p:cNvSpPr/>
          <p:nvPr/>
        </p:nvSpPr>
        <p:spPr>
          <a:xfrm>
            <a:off x="1027800" y="5376600"/>
            <a:ext cx="2354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Best for: solo reviews, drafts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17"/>
          <p:cNvSpPr/>
          <p:nvPr/>
        </p:nvSpPr>
        <p:spPr>
          <a:xfrm>
            <a:off x="3162960" y="6263640"/>
            <a:ext cx="70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2563eb"/>
                </a:solidFill>
                <a:latin typeface="Calibri"/>
              </a:rPr>
              <a:t>01</a:t>
            </a:r>
            <a:endParaRPr b="0" lang="en-CA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18"/>
          <p:cNvSpPr/>
          <p:nvPr/>
        </p:nvSpPr>
        <p:spPr>
          <a:xfrm>
            <a:off x="4062960" y="0"/>
            <a:ext cx="40626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Rectangle 19"/>
          <p:cNvSpPr/>
          <p:nvPr/>
        </p:nvSpPr>
        <p:spPr>
          <a:xfrm>
            <a:off x="4062960" y="0"/>
            <a:ext cx="54360" cy="6857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20"/>
          <p:cNvSpPr/>
          <p:nvPr/>
        </p:nvSpPr>
        <p:spPr>
          <a:xfrm>
            <a:off x="4316760" y="502920"/>
            <a:ext cx="7815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800" spc="-1" strike="noStrike">
                <a:solidFill>
                  <a:srgbClr val="0f172a"/>
                </a:solidFill>
                <a:latin typeface="Calibri"/>
              </a:rPr>
              <a:t>🏢</a:t>
            </a:r>
            <a:endParaRPr b="0" lang="en-CA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21"/>
          <p:cNvSpPr/>
          <p:nvPr/>
        </p:nvSpPr>
        <p:spPr>
          <a:xfrm>
            <a:off x="5068440" y="1280160"/>
            <a:ext cx="2215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Internal Only</a:t>
            </a:r>
            <a:endParaRPr b="0" lang="en-CA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22"/>
          <p:cNvSpPr/>
          <p:nvPr/>
        </p:nvSpPr>
        <p:spPr>
          <a:xfrm>
            <a:off x="5112720" y="1810440"/>
            <a:ext cx="2127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ea5e9"/>
                </a:solidFill>
                <a:latin typeface="Calibri"/>
              </a:rPr>
              <a:t>Your team signs in the app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23"/>
          <p:cNvSpPr/>
          <p:nvPr/>
        </p:nvSpPr>
        <p:spPr>
          <a:xfrm>
            <a:off x="4318920" y="2240280"/>
            <a:ext cx="3559680" cy="187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Oval 24"/>
          <p:cNvSpPr/>
          <p:nvPr/>
        </p:nvSpPr>
        <p:spPr>
          <a:xfrm>
            <a:off x="4318920" y="2496240"/>
            <a:ext cx="109440" cy="109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5"/>
          <p:cNvSpPr/>
          <p:nvPr/>
        </p:nvSpPr>
        <p:spPr>
          <a:xfrm>
            <a:off x="4592520" y="2377440"/>
            <a:ext cx="3350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All participants have workspace accounts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Oval 26"/>
          <p:cNvSpPr/>
          <p:nvPr/>
        </p:nvSpPr>
        <p:spPr>
          <a:xfrm>
            <a:off x="4318920" y="3246120"/>
            <a:ext cx="109440" cy="109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7"/>
          <p:cNvSpPr/>
          <p:nvPr/>
        </p:nvSpPr>
        <p:spPr>
          <a:xfrm>
            <a:off x="5112000" y="3127320"/>
            <a:ext cx="2311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No external emails, no links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Oval 28"/>
          <p:cNvSpPr/>
          <p:nvPr/>
        </p:nvSpPr>
        <p:spPr>
          <a:xfrm>
            <a:off x="4318920" y="3996000"/>
            <a:ext cx="109440" cy="109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9"/>
          <p:cNvSpPr/>
          <p:nvPr/>
        </p:nvSpPr>
        <p:spPr>
          <a:xfrm>
            <a:off x="5050440" y="3877200"/>
            <a:ext cx="2435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Sequential or parallel routing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Oval 30"/>
          <p:cNvSpPr/>
          <p:nvPr/>
        </p:nvSpPr>
        <p:spPr>
          <a:xfrm>
            <a:off x="4318920" y="4745880"/>
            <a:ext cx="109440" cy="109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31"/>
          <p:cNvSpPr/>
          <p:nvPr/>
        </p:nvSpPr>
        <p:spPr>
          <a:xfrm>
            <a:off x="4839840" y="4626720"/>
            <a:ext cx="28558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Everyone signs inside the platform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Oval 32"/>
          <p:cNvSpPr/>
          <p:nvPr/>
        </p:nvSpPr>
        <p:spPr>
          <a:xfrm>
            <a:off x="4318920" y="5495400"/>
            <a:ext cx="109440" cy="109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33"/>
          <p:cNvSpPr/>
          <p:nvPr/>
        </p:nvSpPr>
        <p:spPr>
          <a:xfrm>
            <a:off x="4610520" y="5376600"/>
            <a:ext cx="3314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94a3b8"/>
                </a:solidFill>
                <a:latin typeface="Calibri"/>
              </a:rPr>
              <a:t>Best for: team approvals, policy sign-offs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4"/>
          <p:cNvSpPr/>
          <p:nvPr/>
        </p:nvSpPr>
        <p:spPr>
          <a:xfrm>
            <a:off x="7225920" y="6263640"/>
            <a:ext cx="70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ea5e9"/>
                </a:solidFill>
                <a:latin typeface="Calibri"/>
              </a:rPr>
              <a:t>02</a:t>
            </a:r>
            <a:endParaRPr b="0" lang="en-CA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35"/>
          <p:cNvSpPr/>
          <p:nvPr/>
        </p:nvSpPr>
        <p:spPr>
          <a:xfrm>
            <a:off x="8125920" y="0"/>
            <a:ext cx="4062600" cy="6857640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ectangle 36"/>
          <p:cNvSpPr/>
          <p:nvPr/>
        </p:nvSpPr>
        <p:spPr>
          <a:xfrm>
            <a:off x="8125920" y="0"/>
            <a:ext cx="54360" cy="68576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37"/>
          <p:cNvSpPr/>
          <p:nvPr/>
        </p:nvSpPr>
        <p:spPr>
          <a:xfrm>
            <a:off x="8379720" y="502920"/>
            <a:ext cx="78156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3800" spc="-1" strike="noStrike">
                <a:solidFill>
                  <a:srgbClr val="0f172a"/>
                </a:solidFill>
                <a:latin typeface="Calibri"/>
              </a:rPr>
              <a:t>📬</a:t>
            </a:r>
            <a:endParaRPr b="0" lang="en-CA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38"/>
          <p:cNvSpPr/>
          <p:nvPr/>
        </p:nvSpPr>
        <p:spPr>
          <a:xfrm>
            <a:off x="8717040" y="1280160"/>
            <a:ext cx="3044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f172a"/>
                </a:solidFill>
                <a:latin typeface="Calibri"/>
              </a:rPr>
              <a:t>Platform-Managed</a:t>
            </a:r>
            <a:endParaRPr b="0" lang="en-CA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39"/>
          <p:cNvSpPr/>
          <p:nvPr/>
        </p:nvSpPr>
        <p:spPr>
          <a:xfrm>
            <a:off x="9071280" y="1810440"/>
            <a:ext cx="2336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7c3aed"/>
                </a:solidFill>
                <a:latin typeface="Calibri"/>
              </a:rPr>
              <a:t>EasyDraft emails your signers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40"/>
          <p:cNvSpPr/>
          <p:nvPr/>
        </p:nvSpPr>
        <p:spPr>
          <a:xfrm>
            <a:off x="8381880" y="2240280"/>
            <a:ext cx="3559680" cy="1872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Oval 41"/>
          <p:cNvSpPr/>
          <p:nvPr/>
        </p:nvSpPr>
        <p:spPr>
          <a:xfrm>
            <a:off x="8381880" y="2496240"/>
            <a:ext cx="109440" cy="109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42"/>
          <p:cNvSpPr/>
          <p:nvPr/>
        </p:nvSpPr>
        <p:spPr>
          <a:xfrm>
            <a:off x="8634600" y="2377440"/>
            <a:ext cx="3392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One-time link sent to each signer in order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Oval 43"/>
          <p:cNvSpPr/>
          <p:nvPr/>
        </p:nvSpPr>
        <p:spPr>
          <a:xfrm>
            <a:off x="8381880" y="3246120"/>
            <a:ext cx="109440" cy="109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44"/>
          <p:cNvSpPr/>
          <p:nvPr/>
        </p:nvSpPr>
        <p:spPr>
          <a:xfrm>
            <a:off x="8953920" y="3127320"/>
            <a:ext cx="2753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External signers need no account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Oval 45"/>
          <p:cNvSpPr/>
          <p:nvPr/>
        </p:nvSpPr>
        <p:spPr>
          <a:xfrm>
            <a:off x="8381880" y="3996000"/>
            <a:ext cx="109440" cy="109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46"/>
          <p:cNvSpPr/>
          <p:nvPr/>
        </p:nvSpPr>
        <p:spPr>
          <a:xfrm>
            <a:off x="8887680" y="3877200"/>
            <a:ext cx="2886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Email code required before signing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Oval 47"/>
          <p:cNvSpPr/>
          <p:nvPr/>
        </p:nvSpPr>
        <p:spPr>
          <a:xfrm>
            <a:off x="8381880" y="4745880"/>
            <a:ext cx="109440" cy="109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48"/>
          <p:cNvSpPr/>
          <p:nvPr/>
        </p:nvSpPr>
        <p:spPr>
          <a:xfrm>
            <a:off x="8891640" y="4626720"/>
            <a:ext cx="2878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1 token = 1 external workflow send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Oval 49"/>
          <p:cNvSpPr/>
          <p:nvPr/>
        </p:nvSpPr>
        <p:spPr>
          <a:xfrm>
            <a:off x="8381880" y="5495400"/>
            <a:ext cx="109440" cy="109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2760" bIns="32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50"/>
          <p:cNvSpPr/>
          <p:nvPr/>
        </p:nvSpPr>
        <p:spPr>
          <a:xfrm>
            <a:off x="8504640" y="5376600"/>
            <a:ext cx="365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Best for: client contracts, vendor agreements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51"/>
          <p:cNvSpPr/>
          <p:nvPr/>
        </p:nvSpPr>
        <p:spPr>
          <a:xfrm>
            <a:off x="11288880" y="6263640"/>
            <a:ext cx="70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7c3aed"/>
                </a:solidFill>
                <a:latin typeface="Calibri"/>
              </a:rPr>
              <a:t>03</a:t>
            </a:r>
            <a:endParaRPr b="0" lang="en-CA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52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4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2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3"/>
          <p:cNvSpPr/>
          <p:nvPr/>
        </p:nvSpPr>
        <p:spPr>
          <a:xfrm>
            <a:off x="2554200" y="255960"/>
            <a:ext cx="14749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ea5e9"/>
                </a:solidFill>
                <a:latin typeface="Calibri"/>
              </a:rPr>
              <a:t>THE SIGNED RECORD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4"/>
          <p:cNvSpPr/>
          <p:nvPr/>
        </p:nvSpPr>
        <p:spPr>
          <a:xfrm>
            <a:off x="621000" y="594360"/>
            <a:ext cx="6255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A record you can actually verify.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val 5"/>
          <p:cNvSpPr/>
          <p:nvPr/>
        </p:nvSpPr>
        <p:spPr>
          <a:xfrm>
            <a:off x="502920" y="1600200"/>
            <a:ext cx="347040" cy="347040"/>
          </a:xfrm>
          <a:prstGeom prst="ellipse">
            <a:avLst/>
          </a:prstGeom>
          <a:solidFill>
            <a:srgbClr val="163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502200" y="1554480"/>
            <a:ext cx="34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Calibri"/>
              </a:rPr>
              <a:t>✓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1641960" y="1508760"/>
            <a:ext cx="1378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SHA-256 hash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1790640" y="1856160"/>
            <a:ext cx="2819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recorded on every completed document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Oval 9"/>
          <p:cNvSpPr/>
          <p:nvPr/>
        </p:nvSpPr>
        <p:spPr>
          <a:xfrm>
            <a:off x="502920" y="2359080"/>
            <a:ext cx="347040" cy="347040"/>
          </a:xfrm>
          <a:prstGeom prst="ellipse">
            <a:avLst/>
          </a:prstGeom>
          <a:solidFill>
            <a:srgbClr val="163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502200" y="2313360"/>
            <a:ext cx="34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Calibri"/>
              </a:rPr>
              <a:t>✓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1524600" y="2267640"/>
            <a:ext cx="1613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Completion cert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1858320" y="2615040"/>
            <a:ext cx="2683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all participants, timestamps, and hash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Oval 13"/>
          <p:cNvSpPr/>
          <p:nvPr/>
        </p:nvSpPr>
        <p:spPr>
          <a:xfrm>
            <a:off x="502920" y="3117960"/>
            <a:ext cx="347040" cy="347040"/>
          </a:xfrm>
          <a:prstGeom prst="ellipse">
            <a:avLst/>
          </a:prstGeom>
          <a:solidFill>
            <a:srgbClr val="163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14"/>
          <p:cNvSpPr/>
          <p:nvPr/>
        </p:nvSpPr>
        <p:spPr>
          <a:xfrm>
            <a:off x="502200" y="3072240"/>
            <a:ext cx="34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Calibri"/>
              </a:rPr>
              <a:t>✓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15"/>
          <p:cNvSpPr/>
          <p:nvPr/>
        </p:nvSpPr>
        <p:spPr>
          <a:xfrm>
            <a:off x="1568160" y="3026520"/>
            <a:ext cx="1526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Version history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2140920" y="3374280"/>
            <a:ext cx="21182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every state change preserved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Oval 17"/>
          <p:cNvSpPr/>
          <p:nvPr/>
        </p:nvSpPr>
        <p:spPr>
          <a:xfrm>
            <a:off x="502920" y="3877200"/>
            <a:ext cx="347040" cy="347040"/>
          </a:xfrm>
          <a:prstGeom prst="ellipse">
            <a:avLst/>
          </a:prstGeom>
          <a:solidFill>
            <a:srgbClr val="163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18"/>
          <p:cNvSpPr/>
          <p:nvPr/>
        </p:nvSpPr>
        <p:spPr>
          <a:xfrm>
            <a:off x="502200" y="3831480"/>
            <a:ext cx="34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Calibri"/>
              </a:rPr>
              <a:t>✓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9"/>
          <p:cNvSpPr/>
          <p:nvPr/>
        </p:nvSpPr>
        <p:spPr>
          <a:xfrm>
            <a:off x="1460520" y="3785760"/>
            <a:ext cx="1741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Email verification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20"/>
          <p:cNvSpPr/>
          <p:nvPr/>
        </p:nvSpPr>
        <p:spPr>
          <a:xfrm>
            <a:off x="1723680" y="4133160"/>
            <a:ext cx="2953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required before any external signer action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Oval 21"/>
          <p:cNvSpPr/>
          <p:nvPr/>
        </p:nvSpPr>
        <p:spPr>
          <a:xfrm>
            <a:off x="502920" y="4636080"/>
            <a:ext cx="347040" cy="347040"/>
          </a:xfrm>
          <a:prstGeom prst="ellipse">
            <a:avLst/>
          </a:prstGeom>
          <a:solidFill>
            <a:srgbClr val="163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22"/>
          <p:cNvSpPr/>
          <p:nvPr/>
        </p:nvSpPr>
        <p:spPr>
          <a:xfrm>
            <a:off x="502200" y="4590360"/>
            <a:ext cx="34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Calibri"/>
              </a:rPr>
              <a:t>✓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23"/>
          <p:cNvSpPr/>
          <p:nvPr/>
        </p:nvSpPr>
        <p:spPr>
          <a:xfrm>
            <a:off x="1613160" y="4544640"/>
            <a:ext cx="1436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Full audit trail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24"/>
          <p:cNvSpPr/>
          <p:nvPr/>
        </p:nvSpPr>
        <p:spPr>
          <a:xfrm>
            <a:off x="1854720" y="4892040"/>
            <a:ext cx="2691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view, sign, lock, reopen — all captured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Oval 25"/>
          <p:cNvSpPr/>
          <p:nvPr/>
        </p:nvSpPr>
        <p:spPr>
          <a:xfrm>
            <a:off x="502920" y="5394960"/>
            <a:ext cx="347040" cy="347040"/>
          </a:xfrm>
          <a:prstGeom prst="ellipse">
            <a:avLst/>
          </a:prstGeom>
          <a:solidFill>
            <a:srgbClr val="163c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26"/>
          <p:cNvSpPr/>
          <p:nvPr/>
        </p:nvSpPr>
        <p:spPr>
          <a:xfrm>
            <a:off x="502200" y="5349240"/>
            <a:ext cx="348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4ade80"/>
                </a:solidFill>
                <a:latin typeface="Calibri"/>
              </a:rPr>
              <a:t>✓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27"/>
          <p:cNvSpPr/>
          <p:nvPr/>
        </p:nvSpPr>
        <p:spPr>
          <a:xfrm>
            <a:off x="1679400" y="5303520"/>
            <a:ext cx="130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Split storage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28"/>
          <p:cNvSpPr/>
          <p:nvPr/>
        </p:nvSpPr>
        <p:spPr>
          <a:xfrm>
            <a:off x="1440000" y="5650920"/>
            <a:ext cx="3520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unsigned original and signed output kept separate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 29"/>
          <p:cNvSpPr/>
          <p:nvPr/>
        </p:nvSpPr>
        <p:spPr>
          <a:xfrm>
            <a:off x="6537960" y="1188720"/>
            <a:ext cx="5303160" cy="5028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ectangle 30"/>
          <p:cNvSpPr/>
          <p:nvPr/>
        </p:nvSpPr>
        <p:spPr>
          <a:xfrm>
            <a:off x="6537960" y="1188720"/>
            <a:ext cx="5303160" cy="5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31"/>
          <p:cNvSpPr/>
          <p:nvPr/>
        </p:nvSpPr>
        <p:spPr>
          <a:xfrm>
            <a:off x="8260560" y="1371600"/>
            <a:ext cx="2040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a5e9"/>
                </a:solidFill>
                <a:latin typeface="Calibri"/>
              </a:rPr>
              <a:t>Completion Certificate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 32"/>
          <p:cNvSpPr/>
          <p:nvPr/>
        </p:nvSpPr>
        <p:spPr>
          <a:xfrm>
            <a:off x="6812280" y="1737360"/>
            <a:ext cx="4754520" cy="12240"/>
          </a:xfrm>
          <a:prstGeom prst="rect">
            <a:avLst/>
          </a:prstGeom>
          <a:solidFill>
            <a:srgbClr val="94a3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33"/>
          <p:cNvSpPr/>
          <p:nvPr/>
        </p:nvSpPr>
        <p:spPr>
          <a:xfrm>
            <a:off x="7056000" y="1920240"/>
            <a:ext cx="929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Document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34"/>
          <p:cNvSpPr/>
          <p:nvPr/>
        </p:nvSpPr>
        <p:spPr>
          <a:xfrm>
            <a:off x="9172800" y="1920240"/>
            <a:ext cx="158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MSA_ClientA_v3.pdf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35"/>
          <p:cNvSpPr/>
          <p:nvPr/>
        </p:nvSpPr>
        <p:spPr>
          <a:xfrm>
            <a:off x="7207560" y="2249280"/>
            <a:ext cx="626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Status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36"/>
          <p:cNvSpPr/>
          <p:nvPr/>
        </p:nvSpPr>
        <p:spPr>
          <a:xfrm>
            <a:off x="9388440" y="2249280"/>
            <a:ext cx="1156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completed ✓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37"/>
          <p:cNvSpPr/>
          <p:nvPr/>
        </p:nvSpPr>
        <p:spPr>
          <a:xfrm>
            <a:off x="7081200" y="2578680"/>
            <a:ext cx="879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Signed by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38"/>
          <p:cNvSpPr/>
          <p:nvPr/>
        </p:nvSpPr>
        <p:spPr>
          <a:xfrm>
            <a:off x="9483120" y="2578680"/>
            <a:ext cx="96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Alice Wang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39"/>
          <p:cNvSpPr/>
          <p:nvPr/>
        </p:nvSpPr>
        <p:spPr>
          <a:xfrm>
            <a:off x="9528840" y="2907720"/>
            <a:ext cx="875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Bob Chen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40"/>
          <p:cNvSpPr/>
          <p:nvPr/>
        </p:nvSpPr>
        <p:spPr>
          <a:xfrm>
            <a:off x="7038360" y="3237120"/>
            <a:ext cx="96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Completed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41"/>
          <p:cNvSpPr/>
          <p:nvPr/>
        </p:nvSpPr>
        <p:spPr>
          <a:xfrm>
            <a:off x="9079920" y="3237120"/>
            <a:ext cx="1773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2026-04-27  14:32 UTC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42"/>
          <p:cNvSpPr/>
          <p:nvPr/>
        </p:nvSpPr>
        <p:spPr>
          <a:xfrm>
            <a:off x="7071840" y="3566160"/>
            <a:ext cx="897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Algorithm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43"/>
          <p:cNvSpPr/>
          <p:nvPr/>
        </p:nvSpPr>
        <p:spPr>
          <a:xfrm>
            <a:off x="9574560" y="3566160"/>
            <a:ext cx="78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SHA-256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44"/>
          <p:cNvSpPr/>
          <p:nvPr/>
        </p:nvSpPr>
        <p:spPr>
          <a:xfrm>
            <a:off x="7247880" y="3895200"/>
            <a:ext cx="545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Hash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45"/>
          <p:cNvSpPr/>
          <p:nvPr/>
        </p:nvSpPr>
        <p:spPr>
          <a:xfrm>
            <a:off x="9097560" y="3895200"/>
            <a:ext cx="1738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084fc"/>
                </a:solidFill>
                <a:latin typeface="Calibri"/>
              </a:rPr>
              <a:t>a3f9c1d8 ... e7b42091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46"/>
          <p:cNvSpPr/>
          <p:nvPr/>
        </p:nvSpPr>
        <p:spPr>
          <a:xfrm>
            <a:off x="6986520" y="4224600"/>
            <a:ext cx="1068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Audit events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47"/>
          <p:cNvSpPr/>
          <p:nvPr/>
        </p:nvSpPr>
        <p:spPr>
          <a:xfrm>
            <a:off x="9490680" y="4224600"/>
            <a:ext cx="95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4 recorded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48"/>
          <p:cNvSpPr/>
          <p:nvPr/>
        </p:nvSpPr>
        <p:spPr>
          <a:xfrm>
            <a:off x="7152840" y="4553640"/>
            <a:ext cx="735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Storage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49"/>
          <p:cNvSpPr/>
          <p:nvPr/>
        </p:nvSpPr>
        <p:spPr>
          <a:xfrm>
            <a:off x="9223200" y="4553640"/>
            <a:ext cx="1487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signed PDF locked</a:t>
            </a:r>
            <a:endParaRPr b="0" lang="en-CA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ectangle 50"/>
          <p:cNvSpPr/>
          <p:nvPr/>
        </p:nvSpPr>
        <p:spPr>
          <a:xfrm>
            <a:off x="502920" y="6199560"/>
            <a:ext cx="11639880" cy="548280"/>
          </a:xfrm>
          <a:prstGeom prst="rect">
            <a:avLst/>
          </a:prstGeom>
          <a:solidFill>
            <a:srgbClr val="1c25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51"/>
          <p:cNvSpPr/>
          <p:nvPr/>
        </p:nvSpPr>
        <p:spPr>
          <a:xfrm>
            <a:off x="685800" y="6272640"/>
            <a:ext cx="11274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</a:rPr>
              <a:t>Note: SHA-256 confirms file integrity. Certificate-backed cryptographic signing (PAdES/CAdES) is a planned next step — not a current live feature.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52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5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0" y="0"/>
            <a:ext cx="6094080" cy="68576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Rectangle 2"/>
          <p:cNvSpPr/>
          <p:nvPr/>
        </p:nvSpPr>
        <p:spPr>
          <a:xfrm>
            <a:off x="0" y="0"/>
            <a:ext cx="6094080" cy="5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2019240" y="255960"/>
            <a:ext cx="7160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0a5fa"/>
                </a:solidFill>
                <a:latin typeface="Calibri"/>
              </a:rPr>
              <a:t>PRICING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4"/>
          <p:cNvSpPr/>
          <p:nvPr/>
        </p:nvSpPr>
        <p:spPr>
          <a:xfrm>
            <a:off x="1767600" y="594360"/>
            <a:ext cx="2864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Half the price.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1276920" y="1115640"/>
            <a:ext cx="3846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No envelope limits.</a:t>
            </a:r>
            <a:endParaRPr b="0" lang="en-CA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6"/>
          <p:cNvSpPr/>
          <p:nvPr/>
        </p:nvSpPr>
        <p:spPr>
          <a:xfrm>
            <a:off x="1826280" y="1874520"/>
            <a:ext cx="192456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8000" spc="-1" strike="noStrike">
                <a:solidFill>
                  <a:srgbClr val="ffffff"/>
                </a:solidFill>
                <a:latin typeface="Calibri"/>
              </a:rPr>
              <a:t>$12</a:t>
            </a:r>
            <a:endParaRPr b="0" lang="en-CA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7"/>
          <p:cNvSpPr/>
          <p:nvPr/>
        </p:nvSpPr>
        <p:spPr>
          <a:xfrm>
            <a:off x="2011680" y="3154680"/>
            <a:ext cx="21027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60a5fa"/>
                </a:solidFill>
                <a:latin typeface="Calibri"/>
              </a:rPr>
              <a:t>CAD / seat / month</a:t>
            </a:r>
            <a:endParaRPr b="0" lang="en-CA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8"/>
          <p:cNvSpPr/>
          <p:nvPr/>
        </p:nvSpPr>
        <p:spPr>
          <a:xfrm>
            <a:off x="2066400" y="3611880"/>
            <a:ext cx="1992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0a5fa"/>
                </a:solidFill>
                <a:latin typeface="Calibri"/>
              </a:rPr>
              <a:t>or $120 CAD / seat / year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9"/>
          <p:cNvSpPr/>
          <p:nvPr/>
        </p:nvSpPr>
        <p:spPr>
          <a:xfrm>
            <a:off x="548640" y="4005000"/>
            <a:ext cx="4845960" cy="187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10"/>
          <p:cNvSpPr/>
          <p:nvPr/>
        </p:nvSpPr>
        <p:spPr>
          <a:xfrm>
            <a:off x="2174760" y="4133160"/>
            <a:ext cx="2050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All 3 workflow modes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1"/>
          <p:cNvSpPr/>
          <p:nvPr/>
        </p:nvSpPr>
        <p:spPr>
          <a:xfrm>
            <a:off x="1895040" y="4480560"/>
            <a:ext cx="2610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Sequential &amp; parallel routing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2"/>
          <p:cNvSpPr/>
          <p:nvPr/>
        </p:nvSpPr>
        <p:spPr>
          <a:xfrm>
            <a:off x="1652760" y="4827960"/>
            <a:ext cx="3094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Audit trail + completion certificates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13"/>
          <p:cNvSpPr/>
          <p:nvPr/>
        </p:nvSpPr>
        <p:spPr>
          <a:xfrm>
            <a:off x="1511640" y="5175360"/>
            <a:ext cx="3376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External signers — no account needed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14"/>
          <p:cNvSpPr/>
          <p:nvPr/>
        </p:nvSpPr>
        <p:spPr>
          <a:xfrm>
            <a:off x="1401840" y="5523120"/>
            <a:ext cx="3596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Corporate accounts + shared token packs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5"/>
          <p:cNvSpPr/>
          <p:nvPr/>
        </p:nvSpPr>
        <p:spPr>
          <a:xfrm>
            <a:off x="1671120" y="5870520"/>
            <a:ext cx="3058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30-day free trial · No card required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 16"/>
          <p:cNvSpPr/>
          <p:nvPr/>
        </p:nvSpPr>
        <p:spPr>
          <a:xfrm>
            <a:off x="6094440" y="0"/>
            <a:ext cx="609408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17"/>
          <p:cNvSpPr/>
          <p:nvPr/>
        </p:nvSpPr>
        <p:spPr>
          <a:xfrm>
            <a:off x="6094440" y="0"/>
            <a:ext cx="609408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TextBox 18"/>
          <p:cNvSpPr/>
          <p:nvPr/>
        </p:nvSpPr>
        <p:spPr>
          <a:xfrm>
            <a:off x="8548560" y="255960"/>
            <a:ext cx="1400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64748b"/>
                </a:solidFill>
                <a:latin typeface="Calibri"/>
              </a:rPr>
              <a:t>vs. the competition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19"/>
          <p:cNvSpPr/>
          <p:nvPr/>
        </p:nvSpPr>
        <p:spPr>
          <a:xfrm>
            <a:off x="6998040" y="548640"/>
            <a:ext cx="4684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Approximate cost / seat / month</a:t>
            </a:r>
            <a:endParaRPr b="0" lang="en-CA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20"/>
          <p:cNvSpPr/>
          <p:nvPr/>
        </p:nvSpPr>
        <p:spPr>
          <a:xfrm>
            <a:off x="7275240" y="1005840"/>
            <a:ext cx="4129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64748b"/>
                </a:solidFill>
                <a:latin typeface="Calibri"/>
              </a:rPr>
              <a:t>USD rates converted to CAD at ~1.38. Varies by plan and region.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21"/>
          <p:cNvSpPr/>
          <p:nvPr/>
        </p:nvSpPr>
        <p:spPr>
          <a:xfrm>
            <a:off x="6802200" y="1572840"/>
            <a:ext cx="1464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Calibri"/>
              </a:rPr>
              <a:t>EasyDraftDocs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ectangle 22"/>
          <p:cNvSpPr/>
          <p:nvPr/>
        </p:nvSpPr>
        <p:spPr>
          <a:xfrm>
            <a:off x="6597360" y="1938600"/>
            <a:ext cx="5166000" cy="4201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Rectangle 23"/>
          <p:cNvSpPr/>
          <p:nvPr/>
        </p:nvSpPr>
        <p:spPr>
          <a:xfrm>
            <a:off x="6597360" y="1938600"/>
            <a:ext cx="1126800" cy="4201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24"/>
          <p:cNvSpPr/>
          <p:nvPr/>
        </p:nvSpPr>
        <p:spPr>
          <a:xfrm>
            <a:off x="10798200" y="1938600"/>
            <a:ext cx="90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563eb"/>
                </a:solidFill>
                <a:latin typeface="Calibri"/>
              </a:rPr>
              <a:t>$12 CAD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25"/>
          <p:cNvSpPr/>
          <p:nvPr/>
        </p:nvSpPr>
        <p:spPr>
          <a:xfrm>
            <a:off x="7045920" y="2688480"/>
            <a:ext cx="976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</a:rPr>
              <a:t>HelloSign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ctangle 26"/>
          <p:cNvSpPr/>
          <p:nvPr/>
        </p:nvSpPr>
        <p:spPr>
          <a:xfrm>
            <a:off x="6597360" y="3054240"/>
            <a:ext cx="5166000" cy="4201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Rectangle 27"/>
          <p:cNvSpPr/>
          <p:nvPr/>
        </p:nvSpPr>
        <p:spPr>
          <a:xfrm>
            <a:off x="6597360" y="3054240"/>
            <a:ext cx="2817720" cy="4201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TextBox 28"/>
          <p:cNvSpPr/>
          <p:nvPr/>
        </p:nvSpPr>
        <p:spPr>
          <a:xfrm>
            <a:off x="10771560" y="3054240"/>
            <a:ext cx="99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</a:rPr>
              <a:t>~$30 CAD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29"/>
          <p:cNvSpPr/>
          <p:nvPr/>
        </p:nvSpPr>
        <p:spPr>
          <a:xfrm>
            <a:off x="6968160" y="3803760"/>
            <a:ext cx="1132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</a:rPr>
              <a:t>Adobe Sign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 30"/>
          <p:cNvSpPr/>
          <p:nvPr/>
        </p:nvSpPr>
        <p:spPr>
          <a:xfrm>
            <a:off x="6597360" y="4169520"/>
            <a:ext cx="5166000" cy="4201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Rectangle 31"/>
          <p:cNvSpPr/>
          <p:nvPr/>
        </p:nvSpPr>
        <p:spPr>
          <a:xfrm>
            <a:off x="6597360" y="4169520"/>
            <a:ext cx="4038840" cy="4201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32"/>
          <p:cNvSpPr/>
          <p:nvPr/>
        </p:nvSpPr>
        <p:spPr>
          <a:xfrm>
            <a:off x="10771560" y="4196880"/>
            <a:ext cx="99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</a:rPr>
              <a:t>~$43 CAD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33"/>
          <p:cNvSpPr/>
          <p:nvPr/>
        </p:nvSpPr>
        <p:spPr>
          <a:xfrm>
            <a:off x="6899760" y="4919400"/>
            <a:ext cx="126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</a:rPr>
              <a:t>DocuSign Biz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34"/>
          <p:cNvSpPr/>
          <p:nvPr/>
        </p:nvSpPr>
        <p:spPr>
          <a:xfrm>
            <a:off x="6597360" y="5285160"/>
            <a:ext cx="5166000" cy="42012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Rectangle 35"/>
          <p:cNvSpPr/>
          <p:nvPr/>
        </p:nvSpPr>
        <p:spPr>
          <a:xfrm>
            <a:off x="6597360" y="5285160"/>
            <a:ext cx="4884120" cy="42012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TextBox 36"/>
          <p:cNvSpPr/>
          <p:nvPr/>
        </p:nvSpPr>
        <p:spPr>
          <a:xfrm>
            <a:off x="10870200" y="5276880"/>
            <a:ext cx="99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4155"/>
                </a:solidFill>
                <a:latin typeface="Calibri"/>
              </a:rPr>
              <a:t>~$52 CAD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37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6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Rectangle 2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TextBox 3"/>
          <p:cNvSpPr/>
          <p:nvPr/>
        </p:nvSpPr>
        <p:spPr>
          <a:xfrm>
            <a:off x="2391120" y="255960"/>
            <a:ext cx="886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563eb"/>
                </a:solidFill>
                <a:latin typeface="Calibri"/>
              </a:rPr>
              <a:t>FOR TEAMS</a:t>
            </a:r>
            <a:endParaRPr b="0" lang="en-CA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4"/>
          <p:cNvSpPr/>
          <p:nvPr/>
        </p:nvSpPr>
        <p:spPr>
          <a:xfrm>
            <a:off x="943200" y="594360"/>
            <a:ext cx="5153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One account. Shared billing.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5"/>
          <p:cNvSpPr/>
          <p:nvPr/>
        </p:nvSpPr>
        <p:spPr>
          <a:xfrm>
            <a:off x="511920" y="1078920"/>
            <a:ext cx="6931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3a6e"/>
                </a:solidFill>
                <a:latin typeface="Calibri"/>
              </a:rPr>
              <a:t>Shared token pool. Full admin control.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Rectangle 6"/>
          <p:cNvSpPr/>
          <p:nvPr/>
        </p:nvSpPr>
        <p:spPr>
          <a:xfrm>
            <a:off x="457200" y="2084760"/>
            <a:ext cx="5120280" cy="191988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Rectangle 7"/>
          <p:cNvSpPr/>
          <p:nvPr/>
        </p:nvSpPr>
        <p:spPr>
          <a:xfrm>
            <a:off x="457200" y="2084760"/>
            <a:ext cx="63720" cy="19198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8"/>
          <p:cNvSpPr/>
          <p:nvPr/>
        </p:nvSpPr>
        <p:spPr>
          <a:xfrm>
            <a:off x="644760" y="228600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0f172a"/>
                </a:solidFill>
                <a:latin typeface="Calibri"/>
              </a:rPr>
              <a:t>🏛️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9"/>
          <p:cNvSpPr/>
          <p:nvPr/>
        </p:nvSpPr>
        <p:spPr>
          <a:xfrm>
            <a:off x="2313360" y="2286000"/>
            <a:ext cx="2194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Organization model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0"/>
          <p:cNvSpPr/>
          <p:nvPr/>
        </p:nvSpPr>
        <p:spPr>
          <a:xfrm>
            <a:off x="1353240" y="2743200"/>
            <a:ext cx="4114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Corporate account owns billing, members, and shared tokens.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 11"/>
          <p:cNvSpPr/>
          <p:nvPr/>
        </p:nvSpPr>
        <p:spPr>
          <a:xfrm>
            <a:off x="5779080" y="2084760"/>
            <a:ext cx="5120280" cy="191988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ectangle 12"/>
          <p:cNvSpPr/>
          <p:nvPr/>
        </p:nvSpPr>
        <p:spPr>
          <a:xfrm>
            <a:off x="5779080" y="2084760"/>
            <a:ext cx="63720" cy="191988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3"/>
          <p:cNvSpPr/>
          <p:nvPr/>
        </p:nvSpPr>
        <p:spPr>
          <a:xfrm>
            <a:off x="5966640" y="228600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0f172a"/>
                </a:solidFill>
                <a:latin typeface="Calibri"/>
              </a:rPr>
              <a:t>🪙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4"/>
          <p:cNvSpPr/>
          <p:nvPr/>
        </p:nvSpPr>
        <p:spPr>
          <a:xfrm>
            <a:off x="7553520" y="2286000"/>
            <a:ext cx="2357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Pooled token balance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15"/>
          <p:cNvSpPr/>
          <p:nvPr/>
        </p:nvSpPr>
        <p:spPr>
          <a:xfrm>
            <a:off x="6675120" y="2743200"/>
            <a:ext cx="4114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All external workflow spends come from one shared pool. Topped up any time.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ectangle 16"/>
          <p:cNvSpPr/>
          <p:nvPr/>
        </p:nvSpPr>
        <p:spPr>
          <a:xfrm>
            <a:off x="457200" y="4187880"/>
            <a:ext cx="5120280" cy="1919880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Rectangle 17"/>
          <p:cNvSpPr/>
          <p:nvPr/>
        </p:nvSpPr>
        <p:spPr>
          <a:xfrm>
            <a:off x="457200" y="4187880"/>
            <a:ext cx="63720" cy="191988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5" name="TextBox 18"/>
          <p:cNvSpPr/>
          <p:nvPr/>
        </p:nvSpPr>
        <p:spPr>
          <a:xfrm>
            <a:off x="644760" y="438912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0f172a"/>
                </a:solidFill>
                <a:latin typeface="Calibri"/>
              </a:rPr>
              <a:t>✉️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19"/>
          <p:cNvSpPr/>
          <p:nvPr/>
        </p:nvSpPr>
        <p:spPr>
          <a:xfrm>
            <a:off x="2475360" y="4389120"/>
            <a:ext cx="1869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Team invitations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20"/>
          <p:cNvSpPr/>
          <p:nvPr/>
        </p:nvSpPr>
        <p:spPr>
          <a:xfrm>
            <a:off x="1353240" y="4846320"/>
            <a:ext cx="4114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Invite by email, assign roles. Wrong-account join rejected automatically.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 21"/>
          <p:cNvSpPr/>
          <p:nvPr/>
        </p:nvSpPr>
        <p:spPr>
          <a:xfrm>
            <a:off x="5779080" y="4187880"/>
            <a:ext cx="5120280" cy="191988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Rectangle 22"/>
          <p:cNvSpPr/>
          <p:nvPr/>
        </p:nvSpPr>
        <p:spPr>
          <a:xfrm>
            <a:off x="5779080" y="4187880"/>
            <a:ext cx="63720" cy="191988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23"/>
          <p:cNvSpPr/>
          <p:nvPr/>
        </p:nvSpPr>
        <p:spPr>
          <a:xfrm>
            <a:off x="5966640" y="438912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0f172a"/>
                </a:solidFill>
                <a:latin typeface="Calibri"/>
              </a:rPr>
              <a:t>📊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24"/>
          <p:cNvSpPr/>
          <p:nvPr/>
        </p:nvSpPr>
        <p:spPr>
          <a:xfrm>
            <a:off x="7540560" y="4389120"/>
            <a:ext cx="23832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Owner KPI dashboard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25"/>
          <p:cNvSpPr/>
          <p:nvPr/>
        </p:nvSpPr>
        <p:spPr>
          <a:xfrm>
            <a:off x="6675120" y="4846320"/>
            <a:ext cx="4114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Documents needing attention, billing, and member count in one view.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26"/>
          <p:cNvSpPr/>
          <p:nvPr/>
        </p:nvSpPr>
        <p:spPr>
          <a:xfrm>
            <a:off x="10652760" y="2084760"/>
            <a:ext cx="1416960" cy="12340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27"/>
          <p:cNvSpPr/>
          <p:nvPr/>
        </p:nvSpPr>
        <p:spPr>
          <a:xfrm>
            <a:off x="10762560" y="2286000"/>
            <a:ext cx="125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Org → Workspace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ounded Rectangle 28"/>
          <p:cNvSpPr/>
          <p:nvPr/>
        </p:nvSpPr>
        <p:spPr>
          <a:xfrm>
            <a:off x="10652760" y="3502080"/>
            <a:ext cx="1416960" cy="123408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29"/>
          <p:cNvSpPr/>
          <p:nvPr/>
        </p:nvSpPr>
        <p:spPr>
          <a:xfrm>
            <a:off x="10762560" y="3703320"/>
            <a:ext cx="125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Shared tokens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Rounded Rectangle 30"/>
          <p:cNvSpPr/>
          <p:nvPr/>
        </p:nvSpPr>
        <p:spPr>
          <a:xfrm>
            <a:off x="10652760" y="4919400"/>
            <a:ext cx="1416960" cy="12340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31"/>
          <p:cNvSpPr/>
          <p:nvPr/>
        </p:nvSpPr>
        <p:spPr>
          <a:xfrm>
            <a:off x="10762560" y="5120640"/>
            <a:ext cx="125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Role-based access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32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7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1"/>
          <p:cNvSpPr/>
          <p:nvPr/>
        </p:nvSpPr>
        <p:spPr>
          <a:xfrm>
            <a:off x="0" y="0"/>
            <a:ext cx="6094080" cy="4160160"/>
          </a:xfrm>
          <a:prstGeom prst="rect">
            <a:avLst/>
          </a:prstGeom>
          <a:solidFill>
            <a:srgbClr val="dcfce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ectangle 2"/>
          <p:cNvSpPr/>
          <p:nvPr/>
        </p:nvSpPr>
        <p:spPr>
          <a:xfrm>
            <a:off x="0" y="0"/>
            <a:ext cx="63720" cy="416016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3"/>
          <p:cNvSpPr/>
          <p:nvPr/>
        </p:nvSpPr>
        <p:spPr>
          <a:xfrm>
            <a:off x="2224080" y="274320"/>
            <a:ext cx="1769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6a34a"/>
                </a:solidFill>
                <a:latin typeface="Calibri"/>
              </a:rPr>
              <a:t>✓  </a:t>
            </a:r>
            <a:r>
              <a:rPr b="1" lang="en-US" sz="1100" spc="-1" strike="noStrike">
                <a:solidFill>
                  <a:srgbClr val="16a34a"/>
                </a:solidFill>
                <a:latin typeface="Calibri"/>
              </a:rPr>
              <a:t>WHAT IT DOES WELL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4"/>
          <p:cNvSpPr/>
          <p:nvPr/>
        </p:nvSpPr>
        <p:spPr>
          <a:xfrm>
            <a:off x="1300680" y="713160"/>
            <a:ext cx="3890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Upload any PDF — no layout editing required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5"/>
          <p:cNvSpPr/>
          <p:nvPr/>
        </p:nvSpPr>
        <p:spPr>
          <a:xfrm>
            <a:off x="772560" y="1243440"/>
            <a:ext cx="4946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Place fields, assign signers, route sequentially or in parallel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6"/>
          <p:cNvSpPr/>
          <p:nvPr/>
        </p:nvSpPr>
        <p:spPr>
          <a:xfrm>
            <a:off x="1088640" y="1774080"/>
            <a:ext cx="4314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External signers: one-time link, no account needed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7"/>
          <p:cNvSpPr/>
          <p:nvPr/>
        </p:nvSpPr>
        <p:spPr>
          <a:xfrm>
            <a:off x="997200" y="2304360"/>
            <a:ext cx="4497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Email verification code gates external signing actions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8"/>
          <p:cNvSpPr/>
          <p:nvPr/>
        </p:nvSpPr>
        <p:spPr>
          <a:xfrm>
            <a:off x="960840" y="2834640"/>
            <a:ext cx="4570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SHA-256 integrity hash on every completed document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9"/>
          <p:cNvSpPr/>
          <p:nvPr/>
        </p:nvSpPr>
        <p:spPr>
          <a:xfrm>
            <a:off x="951480" y="3364920"/>
            <a:ext cx="4588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Lock completed docs; full history preserved on reopen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ectangle 10"/>
          <p:cNvSpPr/>
          <p:nvPr/>
        </p:nvSpPr>
        <p:spPr>
          <a:xfrm>
            <a:off x="6094440" y="0"/>
            <a:ext cx="6094080" cy="4160160"/>
          </a:xfrm>
          <a:prstGeom prst="rect">
            <a:avLst/>
          </a:prstGeom>
          <a:solidFill>
            <a:srgbClr val="fff7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Rectangle 11"/>
          <p:cNvSpPr/>
          <p:nvPr/>
        </p:nvSpPr>
        <p:spPr>
          <a:xfrm>
            <a:off x="6094440" y="0"/>
            <a:ext cx="63720" cy="41601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TextBox 12"/>
          <p:cNvSpPr/>
          <p:nvPr/>
        </p:nvSpPr>
        <p:spPr>
          <a:xfrm>
            <a:off x="8237520" y="274320"/>
            <a:ext cx="21150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</a:rPr>
              <a:t>WHAT IT DOESN'T WANT DO</a:t>
            </a:r>
            <a:endParaRPr b="0" lang="en-CA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13"/>
          <p:cNvSpPr/>
          <p:nvPr/>
        </p:nvSpPr>
        <p:spPr>
          <a:xfrm>
            <a:off x="7058160" y="713160"/>
            <a:ext cx="4564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—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Full PDF content editing — bring a finished document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14"/>
          <p:cNvSpPr/>
          <p:nvPr/>
        </p:nvSpPr>
        <p:spPr>
          <a:xfrm>
            <a:off x="6958440" y="1243440"/>
            <a:ext cx="4763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—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PAdES/CAdES certificate-backed signing — SHA-256 only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15"/>
          <p:cNvSpPr/>
          <p:nvPr/>
        </p:nvSpPr>
        <p:spPr>
          <a:xfrm>
            <a:off x="6999480" y="1774080"/>
            <a:ext cx="4681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—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Legal compliance guarantees — check your jurisdiction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16"/>
          <p:cNvSpPr/>
          <p:nvPr/>
        </p:nvSpPr>
        <p:spPr>
          <a:xfrm>
            <a:off x="7215120" y="2304360"/>
            <a:ext cx="4250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—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API integrations — standalone workflow tool only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17"/>
          <p:cNvSpPr/>
          <p:nvPr/>
        </p:nvSpPr>
        <p:spPr>
          <a:xfrm>
            <a:off x="7144560" y="2834640"/>
            <a:ext cx="4391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—  </a:t>
            </a:r>
            <a:r>
              <a:rPr b="0" lang="en-US" sz="1300" spc="-1" strike="noStrike">
                <a:solidFill>
                  <a:srgbClr val="334155"/>
                </a:solidFill>
                <a:latin typeface="Calibri"/>
              </a:rPr>
              <a:t>Custom branding / white-labelling on the base plan</a:t>
            </a:r>
            <a:endParaRPr b="0" lang="en-CA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ectangle 18"/>
          <p:cNvSpPr/>
          <p:nvPr/>
        </p:nvSpPr>
        <p:spPr>
          <a:xfrm>
            <a:off x="0" y="4160520"/>
            <a:ext cx="12188520" cy="2697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Rectangle 19"/>
          <p:cNvSpPr/>
          <p:nvPr/>
        </p:nvSpPr>
        <p:spPr>
          <a:xfrm>
            <a:off x="0" y="4160520"/>
            <a:ext cx="12188520" cy="36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20"/>
          <p:cNvSpPr/>
          <p:nvPr/>
        </p:nvSpPr>
        <p:spPr>
          <a:xfrm>
            <a:off x="1442160" y="4416480"/>
            <a:ext cx="6441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30 days free. No card. Cancel anytime.</a:t>
            </a:r>
            <a:endParaRPr b="0" lang="en-CA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21"/>
          <p:cNvSpPr/>
          <p:nvPr/>
        </p:nvSpPr>
        <p:spPr>
          <a:xfrm>
            <a:off x="1900440" y="5056560"/>
            <a:ext cx="5982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94a3b8"/>
                </a:solidFill>
                <a:latin typeface="Calibri"/>
              </a:rPr>
              <a:t>If you keep going after the trial: $12 CAD / seat / month. That's it.</a:t>
            </a:r>
            <a:endParaRPr b="0" lang="en-CA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Rounded Rectangle 22"/>
          <p:cNvSpPr/>
          <p:nvPr/>
        </p:nvSpPr>
        <p:spPr>
          <a:xfrm>
            <a:off x="548640" y="5641920"/>
            <a:ext cx="3657240" cy="5482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23"/>
          <p:cNvSpPr/>
          <p:nvPr/>
        </p:nvSpPr>
        <p:spPr>
          <a:xfrm>
            <a:off x="1083600" y="5696640"/>
            <a:ext cx="2587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easydraftdocs.app  →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Oval 24"/>
          <p:cNvSpPr/>
          <p:nvPr/>
        </p:nvSpPr>
        <p:spPr>
          <a:xfrm>
            <a:off x="8531280" y="4599360"/>
            <a:ext cx="292320" cy="292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TextBox 25"/>
          <p:cNvSpPr/>
          <p:nvPr/>
        </p:nvSpPr>
        <p:spPr>
          <a:xfrm>
            <a:off x="8512920" y="4553640"/>
            <a:ext cx="329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26"/>
          <p:cNvSpPr/>
          <p:nvPr/>
        </p:nvSpPr>
        <p:spPr>
          <a:xfrm>
            <a:off x="9465480" y="4480560"/>
            <a:ext cx="2044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Free trial — no card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Oval 27"/>
          <p:cNvSpPr/>
          <p:nvPr/>
        </p:nvSpPr>
        <p:spPr>
          <a:xfrm>
            <a:off x="8531280" y="5312520"/>
            <a:ext cx="292320" cy="292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28"/>
          <p:cNvSpPr/>
          <p:nvPr/>
        </p:nvSpPr>
        <p:spPr>
          <a:xfrm>
            <a:off x="8512920" y="5266800"/>
            <a:ext cx="329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29"/>
          <p:cNvSpPr/>
          <p:nvPr/>
        </p:nvSpPr>
        <p:spPr>
          <a:xfrm>
            <a:off x="9534240" y="5193720"/>
            <a:ext cx="1907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Self-service cancel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Oval 30"/>
          <p:cNvSpPr/>
          <p:nvPr/>
        </p:nvSpPr>
        <p:spPr>
          <a:xfrm>
            <a:off x="8531280" y="6026040"/>
            <a:ext cx="292320" cy="292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31"/>
          <p:cNvSpPr/>
          <p:nvPr/>
        </p:nvSpPr>
        <p:spPr>
          <a:xfrm>
            <a:off x="8512920" y="5980320"/>
            <a:ext cx="329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CA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32"/>
          <p:cNvSpPr/>
          <p:nvPr/>
        </p:nvSpPr>
        <p:spPr>
          <a:xfrm>
            <a:off x="9537120" y="5906880"/>
            <a:ext cx="1901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Self-service delete</a:t>
            </a:r>
            <a:endParaRPr b="0" lang="en-CA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33"/>
          <p:cNvSpPr/>
          <p:nvPr/>
        </p:nvSpPr>
        <p:spPr>
          <a:xfrm>
            <a:off x="11387880" y="6510600"/>
            <a:ext cx="412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8 / 8</a:t>
            </a:r>
            <a:endParaRPr b="0" lang="en-CA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en-CA</dc:language>
  <cp:lastModifiedBy/>
  <dcterms:modified xsi:type="dcterms:W3CDTF">2026-04-27T20:06:06Z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